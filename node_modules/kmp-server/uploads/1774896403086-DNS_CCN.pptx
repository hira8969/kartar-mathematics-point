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2697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Internet's Phone Book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Communication Networks  |  CCN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365760"/>
            <a:ext cx="2743200" cy="2743200"/>
          </a:xfrm>
          <a:prstGeom prst="ellipse">
            <a:avLst/>
          </a:prstGeom>
          <a:solidFill>
            <a:srgbClr val="0E7490">
              <a:alpha val="25000"/>
            </a:srgbClr>
          </a:solidFill>
          <a:ln w="12700">
            <a:solidFill>
              <a:srgbClr val="0E7490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286000"/>
            <a:ext cx="1645920" cy="1645920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DNS?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Analogy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remember names,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numbers.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maps: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www.google.com  →  142.250.64.46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97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14400"/>
            <a:ext cx="429768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Key Points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5544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database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naming system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domain names to IP addresses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at Application Layer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UDP port 53 (TCP for large responses)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Hierarchy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29000" y="868680"/>
            <a:ext cx="2286000" cy="502920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0" y="8686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(.) DNS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29000" y="1143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root server clusters worldwide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73736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288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0" y="1828800"/>
            <a:ext cx="173736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18288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.org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1031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0" y="1828800"/>
            <a:ext cx="173736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0" y="18288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.edu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1031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0" y="1828800"/>
            <a:ext cx="173736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18288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 / ccTLD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1031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0" y="1828800"/>
            <a:ext cx="100584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0" y="18288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21031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1371600"/>
            <a:ext cx="-3246120" cy="4572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4572000" y="1371600"/>
            <a:ext cx="-1417320" cy="4572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4572000" y="1371600"/>
            <a:ext cx="411480" cy="4572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4572000" y="1371600"/>
            <a:ext cx="2240280" cy="4572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4572000" y="1371600"/>
            <a:ext cx="3703320" cy="4572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457200" y="2880360"/>
            <a:ext cx="182880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2880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154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google.com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68880" y="2880360"/>
            <a:ext cx="182880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468880" y="2880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68880" y="3154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2880360"/>
            <a:ext cx="192024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0" y="28803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0" y="31546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wikipedia.org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2880360"/>
            <a:ext cx="182880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83680" y="2880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iit.ac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3154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iit.ac.in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325880" y="2331720"/>
            <a:ext cx="45720" cy="5486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ysDash"/>
          </a:ln>
        </p:spPr>
      </p:sp>
      <p:sp>
        <p:nvSpPr>
          <p:cNvPr id="40" name="Shape 38"/>
          <p:cNvSpPr/>
          <p:nvPr/>
        </p:nvSpPr>
        <p:spPr>
          <a:xfrm>
            <a:off x="1325880" y="2331720"/>
            <a:ext cx="2057400" cy="5486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ysDash"/>
          </a:ln>
        </p:spPr>
      </p:sp>
      <p:sp>
        <p:nvSpPr>
          <p:cNvPr id="41" name="Shape 39"/>
          <p:cNvSpPr/>
          <p:nvPr/>
        </p:nvSpPr>
        <p:spPr>
          <a:xfrm>
            <a:off x="3154680" y="2331720"/>
            <a:ext cx="2377440" cy="5486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ysDash"/>
          </a:ln>
        </p:spPr>
      </p:sp>
      <p:sp>
        <p:nvSpPr>
          <p:cNvPr id="42" name="Shape 40"/>
          <p:cNvSpPr/>
          <p:nvPr/>
        </p:nvSpPr>
        <p:spPr>
          <a:xfrm>
            <a:off x="6812280" y="2331720"/>
            <a:ext cx="685800" cy="5486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ysDash"/>
          </a:ln>
        </p:spPr>
      </p:sp>
      <p:sp>
        <p:nvSpPr>
          <p:cNvPr id="43" name="Shape 41"/>
          <p:cNvSpPr/>
          <p:nvPr/>
        </p:nvSpPr>
        <p:spPr>
          <a:xfrm>
            <a:off x="365760" y="3931920"/>
            <a:ext cx="210312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5760" y="3931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mail.google.com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651760" y="3931920"/>
            <a:ext cx="210312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651760" y="3931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www.google.com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37760" y="3931920"/>
            <a:ext cx="210312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937760" y="3931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en.wikipedia.org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371600" y="3383280"/>
            <a:ext cx="45720" cy="5486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ysDash"/>
          </a:ln>
        </p:spPr>
      </p:sp>
      <p:sp>
        <p:nvSpPr>
          <p:cNvPr id="50" name="Shape 48"/>
          <p:cNvSpPr/>
          <p:nvPr/>
        </p:nvSpPr>
        <p:spPr>
          <a:xfrm>
            <a:off x="1371600" y="3383280"/>
            <a:ext cx="2331720" cy="5486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ysDash"/>
          </a:ln>
        </p:spPr>
      </p:sp>
      <p:sp>
        <p:nvSpPr>
          <p:cNvPr id="51" name="Shape 49"/>
          <p:cNvSpPr/>
          <p:nvPr/>
        </p:nvSpPr>
        <p:spPr>
          <a:xfrm>
            <a:off x="5532120" y="3383280"/>
            <a:ext cx="457200" cy="5486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ysDash"/>
          </a:ln>
        </p:spPr>
      </p:sp>
      <p:sp>
        <p:nvSpPr>
          <p:cNvPr id="52" name="Text 50"/>
          <p:cNvSpPr/>
          <p:nvPr/>
        </p:nvSpPr>
        <p:spPr>
          <a:xfrm>
            <a:off x="8503920" y="8686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503920" y="182880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503920" y="28803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503920" y="39319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Resolution Process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463040"/>
            <a:ext cx="141732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3312" y="1298448"/>
            <a:ext cx="329184" cy="3291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3312" y="1298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5087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0574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check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1920240"/>
            <a:ext cx="326898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5970" y="1463040"/>
            <a:ext cx="1417320" cy="9144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0682" y="1298448"/>
            <a:ext cx="329184" cy="3291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0682" y="1298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45970" y="15087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45970" y="20574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ISP's DNS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09010" y="1920240"/>
            <a:ext cx="326898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3340" y="1463040"/>
            <a:ext cx="1417320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8052" y="1298448"/>
            <a:ext cx="329184" cy="3291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8052" y="1298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63340" y="15087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63340" y="20574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TLD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26380" y="1920240"/>
            <a:ext cx="326898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80710" y="1463040"/>
            <a:ext cx="1417320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5422" y="1298448"/>
            <a:ext cx="329184" cy="3291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5422" y="1298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80710" y="15087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80710" y="20574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 server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43750" y="1920240"/>
            <a:ext cx="326898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1463040"/>
            <a:ext cx="1417320" cy="91440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22792" y="1298448"/>
            <a:ext cx="329184" cy="3291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22792" y="1298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98080" y="15087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20574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IP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2560320"/>
            <a:ext cx="1417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587752"/>
            <a:ext cx="1325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URL → browser checks local cache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45970" y="2560320"/>
            <a:ext cx="1417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91690" y="2587752"/>
            <a:ext cx="1325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queries root server if cache misses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63340" y="2560320"/>
            <a:ext cx="1417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09060" y="2587752"/>
            <a:ext cx="1325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returns TLD server address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80710" y="2560320"/>
            <a:ext cx="1417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26430" y="2587752"/>
            <a:ext cx="1325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 server points to authoritative server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98080" y="2560320"/>
            <a:ext cx="1417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43800" y="2587752"/>
            <a:ext cx="1325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returns final IP to resolver → browser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0" y="3520440"/>
            <a:ext cx="6400800" cy="594360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71600" y="35204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IP returned to browser  →  Connection established!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371600" y="4251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Each response is cached (TTL) to speed up future lookups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Record Types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777240" cy="1143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777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domain → IPv4 address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google.com → 142.250.64.46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94560"/>
            <a:ext cx="777240" cy="11430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94560"/>
            <a:ext cx="777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2860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domain → IPv6 address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743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google.com → 2607:f8b0::200e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20440"/>
            <a:ext cx="777240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20440"/>
            <a:ext cx="777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for another domain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069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 → google.com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68680"/>
            <a:ext cx="777240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68680"/>
            <a:ext cx="777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23560" y="960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server for domain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14173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mail.google.com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94560"/>
            <a:ext cx="777240" cy="1143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194560"/>
            <a:ext cx="777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23560" y="22860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Nameserver for domain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23560" y="2743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ns1.google.com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20440"/>
            <a:ext cx="777240" cy="114300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520440"/>
            <a:ext cx="777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3560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text (SPF, DKIM…)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23560" y="4069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v=spf1 include:…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DNS Servers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01168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Recursive Resolver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71600"/>
            <a:ext cx="1828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behalf of the client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other servers iteratively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responses (TTL-based)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822960"/>
            <a:ext cx="201168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Root Name Server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41448" y="128016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32888" y="1371600"/>
            <a:ext cx="1828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DNS hierarchy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logical root servers (A–M)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to TLD servers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54296" y="822960"/>
            <a:ext cx="201168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TLD Name Server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54296" y="128016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45736" y="1371600"/>
            <a:ext cx="1828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.com, .org, .in etc.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 ICANN/registries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authoritative servers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67144" y="822960"/>
            <a:ext cx="2011680" cy="4572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67144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Authoritative Server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67144" y="128016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58584" y="1371600"/>
            <a:ext cx="1828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source of truth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actual DNS zone records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definitive IP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Caching &amp; TTL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TTL Works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3774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= 3600 s  (Cache valid)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3464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3931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64008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Cache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– checked first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3931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68880"/>
            <a:ext cx="64008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Cache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storage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3931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17520"/>
            <a:ext cx="64008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Cache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ISP's recursive server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6118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Lower TTL = faster propagation of changes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Higher TTL = fewer DNS queries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Types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3716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371600"/>
            <a:ext cx="64008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Query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17556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asks resolver — resolver does ALL the work and returns final answer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5603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560320"/>
            <a:ext cx="64008" cy="10058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606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Query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29443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best referral; client contacts each server in turn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74904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749040"/>
            <a:ext cx="64008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794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Query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41330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lookup: IP address → domain name (PTR records)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Security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Common Threats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64008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DNS Spoofing / Cache Poisoning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injects false records to redirect users to malicious sites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4688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468880"/>
            <a:ext cx="64008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14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DNS Amplification (DDoS)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8529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queries return large responses, overwhelming the victim server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6576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657600"/>
            <a:ext cx="64008" cy="10058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 DNS Hijacking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0416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DNS server intercepts queries and returns wrong IPs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Security Solutions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280160"/>
            <a:ext cx="64008" cy="10058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325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DNSSEC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16642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signs DNS records to verify authenticity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4688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468880"/>
            <a:ext cx="64008" cy="10058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514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DNS over HTTPS (DoH)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0" y="28529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DNS queries via HTTPS to prevent eavesdropping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6576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657600"/>
            <a:ext cx="64008" cy="10058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703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DNS over TLS (DoT)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0" y="40416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DNS traffic using TLS on port 853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E7490">
              <a:alpha val="15000"/>
            </a:srgbClr>
          </a:solidFill>
          <a:ln w="12700">
            <a:solidFill>
              <a:srgbClr val="0E74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051560"/>
          </a:xfrm>
          <a:prstGeom prst="rect">
            <a:avLst/>
          </a:prstGeom>
          <a:solidFill>
            <a:srgbClr val="0E7490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44475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converts human-readable names to machine IP addresses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2743200" cy="1051560"/>
          </a:xfrm>
          <a:prstGeom prst="rect">
            <a:avLst/>
          </a:prstGeom>
          <a:solidFill>
            <a:srgbClr val="0E7490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4028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Structure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7919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→ TLD → Second Level → Subdomain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474720"/>
            <a:ext cx="2743200" cy="1051560"/>
          </a:xfrm>
          <a:prstGeom prst="rect">
            <a:avLst/>
          </a:prstGeom>
          <a:solidFill>
            <a:srgbClr val="0E7490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7472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35204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Record Types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91363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AAAA, CNAME, MX, NS, TXT serve different purposes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743200" cy="1051560"/>
          </a:xfrm>
          <a:prstGeom prst="rect">
            <a:avLst/>
          </a:prstGeom>
          <a:solidFill>
            <a:srgbClr val="0E7490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00584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94760" y="10515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Speeds Things 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4760" y="144475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controls how long records are stored locally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2240280"/>
            <a:ext cx="2743200" cy="1051560"/>
          </a:xfrm>
          <a:prstGeom prst="rect">
            <a:avLst/>
          </a:prstGeom>
          <a:solidFill>
            <a:srgbClr val="0E7490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24028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12280" y="22860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Matters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267919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DNSSEC, DoH, DoT protect against spoofing &amp; hijacking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0" y="4434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Domain Name System (DNS)</dc:title>
  <dc:subject>PptxGenJS Presentation</dc:subject>
  <dc:creator>PptxGenJS</dc:creator>
  <cp:lastModifiedBy>PptxGenJS</cp:lastModifiedBy>
  <cp:revision>1</cp:revision>
  <dcterms:created xsi:type="dcterms:W3CDTF">2026-03-27T15:31:00Z</dcterms:created>
  <dcterms:modified xsi:type="dcterms:W3CDTF">2026-03-27T15:31:00Z</dcterms:modified>
</cp:coreProperties>
</file>